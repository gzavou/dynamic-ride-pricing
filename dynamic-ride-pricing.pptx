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9" r:id="rId12"/>
    <p:sldId id="282" r:id="rId13"/>
    <p:sldId id="271" r:id="rId14"/>
    <p:sldId id="274" r:id="rId15"/>
    <p:sldId id="275" r:id="rId16"/>
    <p:sldId id="272" r:id="rId17"/>
    <p:sldId id="281" r:id="rId18"/>
    <p:sldId id="276" r:id="rId19"/>
    <p:sldId id="278" r:id="rId20"/>
    <p:sldId id="279" r:id="rId21"/>
    <p:sldId id="27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5F0B44-E234-AE44-1E84-074C3DB4D573}" v="239" dt="2025-05-29T12:19:53.140"/>
    <p1510:client id="{A4240D8A-12D9-5A1C-083F-E3B434DD518F}" v="138" dt="2025-05-29T11:53:08.368"/>
    <p1510:client id="{B84C579B-82AC-6CBE-487E-DD36CE93BCCD}" v="21" dt="2025-05-29T15:59:35.810"/>
    <p1510:client id="{E364018D-DD55-284B-F0FB-1535FFD6A32D}" v="211" dt="2025-05-29T14:46:48.431"/>
    <p1510:client id="{F8F43EB0-8BEA-88D8-A25A-C96DD5FE0E94}" v="146" dt="2025-05-29T11:28:10.8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38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632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862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355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5/29/2025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99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5/29/2025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382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5/29/2025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78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529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772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509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650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0714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14" r:id="rId6"/>
    <p:sldLayoutId id="2147483710" r:id="rId7"/>
    <p:sldLayoutId id="2147483711" r:id="rId8"/>
    <p:sldLayoutId id="2147483712" r:id="rId9"/>
    <p:sldLayoutId id="2147483713" r:id="rId10"/>
    <p:sldLayoutId id="2147483715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arashnic/dynamic-pricing-dataset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5CB65D0-496F-4797-A015-C85839E35D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092197-8CDA-7889-7FFA-180164E946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3751" r="-2" b="-2"/>
          <a:stretch>
            <a:fillRect/>
          </a:stretch>
        </p:blipFill>
        <p:spPr>
          <a:xfrm>
            <a:off x="-7055" y="-14101"/>
            <a:ext cx="12192000" cy="685798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5D2C779-8883-4E5F-A170-0F464918C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307" y="990598"/>
            <a:ext cx="12188952" cy="4745182"/>
          </a:xfrm>
          <a:prstGeom prst="rect">
            <a:avLst/>
          </a:prstGeom>
          <a:gradFill>
            <a:gsLst>
              <a:gs pos="35000">
                <a:srgbClr val="000000">
                  <a:alpha val="41000"/>
                </a:srgbClr>
              </a:gs>
              <a:gs pos="0">
                <a:srgbClr val="000000">
                  <a:alpha val="0"/>
                </a:srgbClr>
              </a:gs>
              <a:gs pos="47744">
                <a:srgbClr val="000000">
                  <a:alpha val="51000"/>
                </a:srgbClr>
              </a:gs>
              <a:gs pos="70000">
                <a:srgbClr val="000000">
                  <a:alpha val="37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33541" y="990599"/>
            <a:ext cx="5619054" cy="4849091"/>
          </a:xfrm>
        </p:spPr>
        <p:txBody>
          <a:bodyPr anchor="ctr"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Dynamic Ride Pricing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35866" y="4425243"/>
            <a:ext cx="5416905" cy="1099255"/>
          </a:xfrm>
        </p:spPr>
        <p:txBody>
          <a:bodyPr anchor="ctr">
            <a:normAutofit/>
          </a:bodyPr>
          <a:lstStyle/>
          <a:p>
            <a:r>
              <a:rPr lang="en-US">
                <a:ea typeface="+mn-lt"/>
                <a:cs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https://www.kaggle.com/datasets/arashnic/dynamic-pricing-dataset</a:t>
            </a:r>
            <a:endParaRPr lang="en-US">
              <a:hlinkClick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96A694-258D-4418-A83C-B9BA72FD4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115300" y="1780927"/>
            <a:ext cx="0" cy="3390901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sx="88000" sy="88000" algn="tl" rotWithShape="0">
              <a:prstClr val="black">
                <a:alpha val="26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C11BFE7-B50C-EBFF-856F-56D9F3BB49E1}"/>
              </a:ext>
            </a:extLst>
          </p:cNvPr>
          <p:cNvSpPr txBox="1"/>
          <p:nvPr/>
        </p:nvSpPr>
        <p:spPr>
          <a:xfrm>
            <a:off x="8480778" y="3217332"/>
            <a:ext cx="3372554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/>
              <a:t>Ilaria Curzi</a:t>
            </a:r>
          </a:p>
          <a:p>
            <a:r>
              <a:rPr lang="en-US" sz="2400"/>
              <a:t>Georgia </a:t>
            </a:r>
            <a:r>
              <a:rPr lang="en-US" sz="2400" err="1"/>
              <a:t>Zavou</a:t>
            </a:r>
            <a:endParaRPr lang="en-US" sz="2400"/>
          </a:p>
          <a:p>
            <a:r>
              <a:rPr lang="en-US" sz="2400"/>
              <a:t>Theodoros Lambrou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7A4791-72D4-9136-A596-8DEEDC595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6239599" cy="1307590"/>
          </a:xfrm>
        </p:spPr>
        <p:txBody>
          <a:bodyPr>
            <a:normAutofit/>
          </a:bodyPr>
          <a:lstStyle/>
          <a:p>
            <a:r>
              <a:rPr lang="en-US"/>
              <a:t>Data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815BE95-1337-20E2-B2EF-5DA486F72F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A5D0B-E428-E97B-8E92-E980CF9314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1721048"/>
            <a:ext cx="6677105" cy="444200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en-US" sz="1600"/>
          </a:p>
          <a:p>
            <a:pPr>
              <a:lnSpc>
                <a:spcPct val="100000"/>
              </a:lnSpc>
            </a:pPr>
            <a:r>
              <a:rPr lang="en-US" sz="1600">
                <a:latin typeface="Calisto MT"/>
                <a:ea typeface="+mn-lt"/>
                <a:cs typeface="+mn-lt"/>
              </a:rPr>
              <a:t>Total number of ride requests at that time (measures demand) </a:t>
            </a:r>
          </a:p>
          <a:p>
            <a:pPr>
              <a:lnSpc>
                <a:spcPct val="100000"/>
              </a:lnSpc>
            </a:pPr>
            <a:r>
              <a:rPr lang="en-US" sz="1600">
                <a:latin typeface="Calisto MT"/>
                <a:ea typeface="+mn-lt"/>
                <a:cs typeface="+mn-lt"/>
              </a:rPr>
              <a:t> Number of available drivers nearby (measures supply) </a:t>
            </a:r>
            <a:endParaRPr lang="en-US" sz="1600">
              <a:latin typeface="Calisto MT"/>
              <a:ea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lang="en-US" sz="1600">
                <a:latin typeface="Calisto MT"/>
                <a:ea typeface="+mn-lt"/>
                <a:cs typeface="+mn-lt"/>
              </a:rPr>
              <a:t>Location type where the ride was requested: Urban, Suburban, or Rural </a:t>
            </a:r>
            <a:endParaRPr lang="en-US" sz="1600">
              <a:latin typeface="Calisto MT"/>
              <a:ea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lang="en-US" sz="1600">
                <a:latin typeface="Calisto MT"/>
                <a:ea typeface="+mn-lt"/>
                <a:cs typeface="+mn-lt"/>
              </a:rPr>
              <a:t>Type of vehicle selected: Standard, Premium</a:t>
            </a:r>
            <a:endParaRPr lang="en-US" sz="1600">
              <a:latin typeface="Calisto MT"/>
              <a:ea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lang="en-US" sz="1600">
                <a:latin typeface="Calisto MT"/>
                <a:ea typeface="+mn-lt"/>
                <a:cs typeface="+mn-lt"/>
              </a:rPr>
              <a:t>Customer’s loyalty : Regular, Silver, or Premium </a:t>
            </a:r>
            <a:endParaRPr lang="en-US" sz="1600">
              <a:latin typeface="Calisto MT"/>
              <a:ea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lang="en-US" sz="1600">
                <a:latin typeface="Calisto MT"/>
                <a:ea typeface="+mn-lt"/>
                <a:cs typeface="+mn-lt"/>
              </a:rPr>
              <a:t>Average rating of the customer from previous rides (1 to 5) </a:t>
            </a:r>
            <a:endParaRPr lang="en-US" sz="1600">
              <a:latin typeface="Calisto MT"/>
              <a:ea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lang="en-US" sz="1600">
                <a:latin typeface="Calisto MT"/>
                <a:ea typeface="+mn-lt"/>
                <a:cs typeface="+mn-lt"/>
              </a:rPr>
              <a:t>Number of rides the customer has taken before </a:t>
            </a:r>
            <a:endParaRPr lang="en-US" sz="1600">
              <a:latin typeface="Calisto MT"/>
              <a:ea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lang="en-US" sz="1600">
                <a:latin typeface="Calisto MT"/>
                <a:ea typeface="+mn-lt"/>
                <a:cs typeface="+mn-lt"/>
              </a:rPr>
              <a:t>Time of day when the ride was booked (Morning, Afternoon, Evening, or Night) </a:t>
            </a:r>
            <a:endParaRPr lang="en-US" sz="1600">
              <a:latin typeface="Calisto MT"/>
              <a:ea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lang="en-US" sz="1600">
                <a:latin typeface="Calisto MT"/>
                <a:ea typeface="+mn-lt"/>
                <a:cs typeface="+mn-lt"/>
              </a:rPr>
              <a:t>Price paid for the ride </a:t>
            </a:r>
            <a:endParaRPr lang="en-US" sz="1600">
              <a:latin typeface="Calisto MT"/>
              <a:ea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lang="en-US" sz="1400"/>
          </a:p>
        </p:txBody>
      </p:sp>
      <p:pic>
        <p:nvPicPr>
          <p:cNvPr id="5" name="Picture 4" descr="Speedometer">
            <a:extLst>
              <a:ext uri="{FF2B5EF4-FFF2-40B4-BE49-F238E27FC236}">
                <a16:creationId xmlns:a16="http://schemas.microsoft.com/office/drawing/2014/main" id="{7C3C9B3A-F0B2-7474-745F-8892614FC2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682" r="24413" b="-7"/>
          <a:stretch>
            <a:fillRect/>
          </a:stretch>
        </p:blipFill>
        <p:spPr>
          <a:xfrm>
            <a:off x="7583424" y="10"/>
            <a:ext cx="4608576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502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479833C7-FDE4-4657-B0B1-32BE833C2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ABE7C0B-A2D9-4202-A524-532DA2E2D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Content Placeholder 3" descr="A graph of a distribution of rides&#10;&#10;AI-generated content may be incorrect.">
            <a:extLst>
              <a:ext uri="{FF2B5EF4-FFF2-40B4-BE49-F238E27FC236}">
                <a16:creationId xmlns:a16="http://schemas.microsoft.com/office/drawing/2014/main" id="{A2AAF083-630E-F504-9E7B-536290AAE4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912" y="433123"/>
            <a:ext cx="9244335" cy="599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6469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7B61E2-43E2-3667-0928-9FE975EEA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11153F7-8980-6102-2BD6-71FC8BFC45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3EA098B-B330-1851-EF6C-1DBF27206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692A6C22-E365-F226-7CBF-2711A58364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B052D39-E418-05E8-D448-FDCC4368EA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253950C-9030-E638-2079-5C5947A00D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18" r="2175" b="-106"/>
          <a:stretch>
            <a:fillRect/>
          </a:stretch>
        </p:blipFill>
        <p:spPr>
          <a:xfrm>
            <a:off x="1589790" y="554854"/>
            <a:ext cx="8925744" cy="5754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5832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FE9A3A-FFAC-9FBD-FA6A-B2D48E6B5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7FEA813-8307-D503-0DE2-FF84AEFC2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865077E-F224-9224-6961-061896DE9D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575995B5-052B-55B4-3325-496A55A282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154A8D7-FF5F-55DF-F39F-28000CF2E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088174-2095-6766-9C58-F5E5C215CD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96" r="61" b="94"/>
          <a:stretch>
            <a:fillRect/>
          </a:stretch>
        </p:blipFill>
        <p:spPr>
          <a:xfrm>
            <a:off x="1217783" y="187587"/>
            <a:ext cx="9890606" cy="6476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166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DE66C7-73A7-A8B9-41C4-5A5EEBE6F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33D247D-D68F-DBAC-5AE0-0586D5050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DC5A638-8819-60C7-06F1-37241E39C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6F6CD9E4-E065-240F-C958-7F1DEE5D8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65B637F-EAB6-0C58-7B28-59F9DC6070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graph of a number of riders&#10;&#10;AI-generated content may be incorrect.">
            <a:extLst>
              <a:ext uri="{FF2B5EF4-FFF2-40B4-BE49-F238E27FC236}">
                <a16:creationId xmlns:a16="http://schemas.microsoft.com/office/drawing/2014/main" id="{F20E1D47-0B73-F407-C5BF-162E1874DE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58" y="0"/>
            <a:ext cx="106630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4554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4B6EB9-F29C-3CE3-7347-E6744FB40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0CC0D43-EF99-2103-973E-40AACAA178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F72EF5A-A958-5676-AFA8-21F3F3886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FB4532EC-726E-3ED3-E7C2-52E4B448EB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461FE21-8C06-C540-FC7F-5490AB14D0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graph of drivers versus ride cost&#10;&#10;AI-generated content may be incorrect.">
            <a:extLst>
              <a:ext uri="{FF2B5EF4-FFF2-40B4-BE49-F238E27FC236}">
                <a16:creationId xmlns:a16="http://schemas.microsoft.com/office/drawing/2014/main" id="{C25B6CFE-9AA6-759E-70F2-8521A7A728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706" y="0"/>
            <a:ext cx="107725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090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9545FB-C93C-2E19-D37F-00A15DE7A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D6BB744-C8CE-2946-28C6-9DCE22B70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7115098-83AD-32E1-99B7-C5C1F1C384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D75EBC2E-41B1-D9BF-A49B-6D188EDF33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C0E1E72-058A-9295-E219-A9281D0AFA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5F9A4A5-D603-4B3C-29BD-AE2632CE5B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158" y="132522"/>
            <a:ext cx="10221249" cy="6599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888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E05EDC-D242-55CB-2C92-A013FD0FD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CA82FD98-7EEC-9EFB-4C18-42C523885E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818" r="37323" b="6250"/>
          <a:stretch>
            <a:fillRect/>
          </a:stretch>
        </p:blipFill>
        <p:spPr>
          <a:xfrm>
            <a:off x="20" y="-1"/>
            <a:ext cx="4663420" cy="6858001"/>
          </a:xfrm>
          <a:prstGeom prst="rect">
            <a:avLst/>
          </a:prstGeom>
        </p:spPr>
      </p:pic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46871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8EC5BF7-0E86-5013-DCE4-67504E4AB816}"/>
              </a:ext>
            </a:extLst>
          </p:cNvPr>
          <p:cNvSpPr txBox="1"/>
          <p:nvPr/>
        </p:nvSpPr>
        <p:spPr>
          <a:xfrm>
            <a:off x="5248656" y="1544659"/>
            <a:ext cx="6236208" cy="4618397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ts val="1000"/>
              </a:spcBef>
            </a:pPr>
            <a:r>
              <a:rPr lang="en-US" b="1"/>
              <a:t>Gold customers have a bit higher median ride cost.</a:t>
            </a:r>
          </a:p>
          <a:p>
            <a:pPr indent="-228600"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/>
          </a:p>
          <a:p>
            <a:pPr>
              <a:spcBef>
                <a:spcPts val="1000"/>
              </a:spcBef>
            </a:pPr>
            <a:br>
              <a:rPr lang="en-US"/>
            </a:br>
            <a:r>
              <a:rPr lang="en-US"/>
              <a:t>1. Are Gold loyal customers booking more expensive rides maybe with better cars or longer trips?</a:t>
            </a:r>
          </a:p>
          <a:p>
            <a:pPr>
              <a:spcBef>
                <a:spcPts val="1000"/>
              </a:spcBef>
            </a:pPr>
            <a:br>
              <a:rPr lang="en-US"/>
            </a:br>
            <a:r>
              <a:rPr lang="en-US"/>
              <a:t>2. Is the pricing algorithm unintentionally charging more the higher-tier users?</a:t>
            </a:r>
          </a:p>
          <a:p>
            <a:br>
              <a:rPr lang="en-US">
                <a:highlight>
                  <a:srgbClr val="1E1E1E"/>
                </a:highlight>
              </a:rPr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6617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7BC16A-94AE-9C04-8802-7F75ED94C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DAF5117-63DF-2092-BA45-FEE1B3A248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73CD90F-CED6-C742-B743-AB3B5C6EE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AE4154A0-2BE6-E47C-33E1-77C8495B3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C44E12E-E15B-7B52-8649-2877930632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diagram of a customer loyalty status&#10;&#10;AI-generated content may be incorrect.">
            <a:extLst>
              <a:ext uri="{FF2B5EF4-FFF2-40B4-BE49-F238E27FC236}">
                <a16:creationId xmlns:a16="http://schemas.microsoft.com/office/drawing/2014/main" id="{C27CD1AC-22F4-5F9D-2867-17556C7A64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5201"/>
            <a:ext cx="12192000" cy="5967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7579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253CA0-1A5A-6A74-62B9-AE0EDB9F6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A0CC18B-4170-0017-007A-FF3143C24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34FD50A-514A-9454-A605-4EE84593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DD4FE1B9-4692-7025-F6B2-8D9BD5BEB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45010F5-5494-4D7B-27F7-066DF2A673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screenshot of a graph&#10;&#10;AI-generated content may be incorrect.">
            <a:extLst>
              <a:ext uri="{FF2B5EF4-FFF2-40B4-BE49-F238E27FC236}">
                <a16:creationId xmlns:a16="http://schemas.microsoft.com/office/drawing/2014/main" id="{AC103E9B-A615-3E94-1A0B-CD946577C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7" y="161097"/>
            <a:ext cx="9879491" cy="6540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4041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2FC0521-505B-84BD-2543-B93A0C229C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9741" y="387096"/>
            <a:ext cx="10282157" cy="6099048"/>
          </a:xfrm>
        </p:spPr>
      </p:pic>
    </p:spTree>
    <p:extLst>
      <p:ext uri="{BB962C8B-B14F-4D97-AF65-F5344CB8AC3E}">
        <p14:creationId xmlns:p14="http://schemas.microsoft.com/office/powerpoint/2010/main" val="4371092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83468C-9D9A-FE23-5E84-690A63CD1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6773775-C9FF-A61B-49CC-6F7AD5D232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C979F1A-40FA-C04C-E833-30640B055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DFE63CF4-DF91-2BA1-C17E-F30F95F2D5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F2EDCFC-875F-8E5B-DA75-2B4048234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graph of blue dots&#10;&#10;AI-generated content may be incorrect.">
            <a:extLst>
              <a:ext uri="{FF2B5EF4-FFF2-40B4-BE49-F238E27FC236}">
                <a16:creationId xmlns:a16="http://schemas.microsoft.com/office/drawing/2014/main" id="{19B0D870-44AC-867D-1E81-74A47B49D5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698" y="0"/>
            <a:ext cx="116446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4819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22368F-C671-1AE9-4D7B-76A319FB0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8DEC62B-51B6-A227-C7A2-87200F752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005977A-8FF2-A961-3B02-BC894B8B5B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67DCD5F7-AC90-C811-3942-B0C037EE2E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804187C-4C7D-3B13-4200-FCF7EC3CA8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graph of a number of past rides&#10;&#10;AI-generated content may be incorrect.">
            <a:extLst>
              <a:ext uri="{FF2B5EF4-FFF2-40B4-BE49-F238E27FC236}">
                <a16:creationId xmlns:a16="http://schemas.microsoft.com/office/drawing/2014/main" id="{7E181BF8-CADC-DEFB-5750-1A469DC46D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696" y="339293"/>
            <a:ext cx="10413598" cy="6186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6850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E5724B-97F1-8801-04B1-E2E596C1A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821AE5A-ABFA-83D2-7E08-0216A30968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6EE3DB0-48B2-637B-5BD5-3008BF7E3A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2717962F-6169-BC12-F8DE-520B25B9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5838E3A-3A9A-4B44-E191-8AF0031CA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graph of distribution and log-transversal distribution&#10;&#10;AI-generated content may be incorrect.">
            <a:extLst>
              <a:ext uri="{FF2B5EF4-FFF2-40B4-BE49-F238E27FC236}">
                <a16:creationId xmlns:a16="http://schemas.microsoft.com/office/drawing/2014/main" id="{041D2FA2-4713-3D02-D4A8-B04C56482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69" y="1715506"/>
            <a:ext cx="12192000" cy="5143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AF0228D-E360-578C-7018-87BB84BFDF71}"/>
              </a:ext>
            </a:extLst>
          </p:cNvPr>
          <p:cNvSpPr txBox="1"/>
          <p:nvPr/>
        </p:nvSpPr>
        <p:spPr>
          <a:xfrm>
            <a:off x="458679" y="133165"/>
            <a:ext cx="4623238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/>
              <a:t>Original ride cost is right-skewed 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Most rides cost between 100–500 units.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A smaller number of rides are 600 units or more.</a:t>
            </a:r>
          </a:p>
          <a:p>
            <a:endParaRPr lang="en-US">
              <a:solidFill>
                <a:srgbClr val="000000"/>
              </a:solidFill>
              <a:latin typeface="Calisto MT"/>
              <a:ea typeface="Courier New"/>
              <a:cs typeface="Courier New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9F415F-7794-83FC-BFCE-AF9D6CFC5B19}"/>
              </a:ext>
            </a:extLst>
          </p:cNvPr>
          <p:cNvSpPr txBox="1"/>
          <p:nvPr/>
        </p:nvSpPr>
        <p:spPr>
          <a:xfrm>
            <a:off x="6095999" y="134055"/>
            <a:ext cx="5235222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This can affect the performance of some models because outliers pull the average up.</a:t>
            </a:r>
          </a:p>
          <a:p>
            <a:r>
              <a:rPr lang="en-US"/>
              <a:t>In order to avoid biasing the models we compress high values and even out the distribution, making it more symmetric and normal-like.</a:t>
            </a:r>
          </a:p>
          <a:p>
            <a:br>
              <a:rPr lang="en-US"/>
            </a:br>
            <a:endParaRPr lang="en-US">
              <a:latin typeface="Calisto MT"/>
              <a:cs typeface="Courier New"/>
            </a:endParaRPr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8056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887946-AB2C-A33A-5C18-58A7BB1FA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39AE7C-AEF7-1F2C-BC94-B4A55195B887}"/>
              </a:ext>
            </a:extLst>
          </p:cNvPr>
          <p:cNvSpPr txBox="1"/>
          <p:nvPr/>
        </p:nvSpPr>
        <p:spPr>
          <a:xfrm>
            <a:off x="700088" y="909637"/>
            <a:ext cx="6400800" cy="130759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000" cap="all" spc="30">
                <a:latin typeface="+mj-lt"/>
                <a:ea typeface="+mj-ea"/>
                <a:cs typeface="+mj-cs"/>
              </a:rPr>
              <a:t>Model Fitting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8E813B4C-6731-0B72-5252-A79AB0E20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E3E9913-9F0F-1AC1-1BD6-FA5F353EDBA2}"/>
              </a:ext>
            </a:extLst>
          </p:cNvPr>
          <p:cNvSpPr txBox="1"/>
          <p:nvPr/>
        </p:nvSpPr>
        <p:spPr>
          <a:xfrm>
            <a:off x="700088" y="2092944"/>
            <a:ext cx="7039896" cy="3893524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b="1"/>
              <a:t>Random Forest</a:t>
            </a:r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Split data 80% Train and 20% Test</a:t>
            </a:r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R² Score (How well the model explains the variability in the target (ride cost)): 0.8520 </a:t>
            </a:r>
            <a:r>
              <a:rPr lang="en-US" sz="1400">
                <a:ea typeface="+mn-lt"/>
                <a:cs typeface="+mn-lt"/>
              </a:rPr>
              <a:t>→</a:t>
            </a:r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 </a:t>
            </a:r>
            <a:r>
              <a:rPr lang="en-US"/>
              <a:t>85.2% of the variation in ride prices is explained by this model. </a:t>
            </a:r>
          </a:p>
          <a:p>
            <a:pPr marL="742950" lvl="1" indent="-228600">
              <a:lnSpc>
                <a:spcPct val="110000"/>
              </a:lnSpc>
              <a:spcAft>
                <a:spcPts val="600"/>
              </a:spcAft>
              <a:buFont typeface="Courier New" panose="020B0604020202020204" pitchFamily="34" charset="0"/>
              <a:buChar char="o"/>
            </a:pPr>
            <a:r>
              <a:rPr lang="en-US"/>
              <a:t>Our model explains most of the price variation.</a:t>
            </a:r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RMSE (average difference between predicted values and the actual ride costs.): 73.46 </a:t>
            </a:r>
            <a:r>
              <a:rPr lang="en-US" sz="1400"/>
              <a:t>→</a:t>
            </a:r>
            <a:r>
              <a:rPr lang="en-US"/>
              <a:t> on average our predictions are about 73 units off from the true price. </a:t>
            </a:r>
          </a:p>
          <a:p>
            <a:pPr marL="742950" lvl="1" indent="-228600">
              <a:lnSpc>
                <a:spcPct val="110000"/>
              </a:lnSpc>
              <a:spcAft>
                <a:spcPts val="600"/>
              </a:spcAft>
              <a:buFont typeface="Courier New" panose="020B0604020202020204" pitchFamily="34" charset="0"/>
              <a:buChar char="o"/>
            </a:pPr>
            <a:r>
              <a:rPr lang="en-US"/>
              <a:t>Reasonably accurate predictions with moderate error range.</a:t>
            </a:r>
          </a:p>
        </p:txBody>
      </p:sp>
      <p:pic>
        <p:nvPicPr>
          <p:cNvPr id="50" name="Graphic 49" descr="Gears">
            <a:extLst>
              <a:ext uri="{FF2B5EF4-FFF2-40B4-BE49-F238E27FC236}">
                <a16:creationId xmlns:a16="http://schemas.microsoft.com/office/drawing/2014/main" id="{0EA892D1-61AF-AFE0-693E-BF82973B2E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87920" y="2102261"/>
            <a:ext cx="3903980" cy="3903980"/>
          </a:xfrm>
          <a:prstGeom prst="rect">
            <a:avLst/>
          </a:prstGeom>
        </p:spPr>
      </p:pic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0E8146-6E65-2E6C-0C86-547E3C925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15681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34259D-6204-B805-1A2E-B7A33F8F1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8" y="909637"/>
            <a:ext cx="6400800" cy="1307592"/>
          </a:xfrm>
        </p:spPr>
        <p:txBody>
          <a:bodyPr>
            <a:normAutofit/>
          </a:bodyPr>
          <a:lstStyle/>
          <a:p>
            <a:r>
              <a:rPr lang="en-US"/>
              <a:t>Testing other models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E813B4C-6731-0B72-5252-A79AB0E20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999AF-E428-05AE-1A7E-C3C4C65066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088" y="2221992"/>
            <a:ext cx="6400800" cy="373989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Random Forest → R²: 0.8520 | RMSE: 73.46 </a:t>
            </a:r>
          </a:p>
          <a:p>
            <a:r>
              <a:rPr lang="en-US"/>
              <a:t>Linear Regression → R²: 0.7478 | RMSE: 73.46 </a:t>
            </a:r>
          </a:p>
          <a:p>
            <a:r>
              <a:rPr lang="en-US" err="1"/>
              <a:t>XGBoost</a:t>
            </a:r>
            <a:r>
              <a:rPr lang="en-US"/>
              <a:t> → R²: 0.8403 | RMSE: 76.32</a:t>
            </a:r>
          </a:p>
        </p:txBody>
      </p:sp>
      <p:pic>
        <p:nvPicPr>
          <p:cNvPr id="7" name="Graphic 6" descr="Checkmark">
            <a:extLst>
              <a:ext uri="{FF2B5EF4-FFF2-40B4-BE49-F238E27FC236}">
                <a16:creationId xmlns:a16="http://schemas.microsoft.com/office/drawing/2014/main" id="{F6D6C57F-5037-2984-A400-8A9567F6BA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87920" y="2102261"/>
            <a:ext cx="3903980" cy="390398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0E8146-6E65-2E6C-0C86-547E3C925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02479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A325DF-772D-DC6D-E522-6D862CF69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69D7B20-3876-B845-237B-9BA23FBE4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A3C95AB-B67E-836E-8C74-FBD37CE52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04640691-F21D-5AEA-4B1F-906A265EA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A12B101-820C-774C-225D-D2B215AD21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graph with blue dots and red line&#10;&#10;AI-generated content may be incorrect.">
            <a:extLst>
              <a:ext uri="{FF2B5EF4-FFF2-40B4-BE49-F238E27FC236}">
                <a16:creationId xmlns:a16="http://schemas.microsoft.com/office/drawing/2014/main" id="{5087D266-8441-507E-D612-66A22A6678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1142" y="0"/>
            <a:ext cx="92097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2557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D81D87-5EED-9ED0-9387-ACD46C0BC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EF615F7-F15A-6C77-1F46-C1C17DD30E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8D375DD-F624-C4CD-B2A2-CBDFE63D4E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D38136C7-E0E0-9897-EFB8-95915A04A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6CB10BC-EA8D-869C-A8F5-B048AE4918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graph with a number of text&#10;&#10;AI-generated content may be incorrect.">
            <a:extLst>
              <a:ext uri="{FF2B5EF4-FFF2-40B4-BE49-F238E27FC236}">
                <a16:creationId xmlns:a16="http://schemas.microsoft.com/office/drawing/2014/main" id="{6A2F92B5-14D6-3455-B967-4A79882752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831" y="650012"/>
            <a:ext cx="9559677" cy="5528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6605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C1B2BB-C26C-012B-6D8B-0FC88BB86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7DC16E-0941-A4B3-3E85-EF528FAEB766}"/>
              </a:ext>
            </a:extLst>
          </p:cNvPr>
          <p:cNvSpPr txBox="1"/>
          <p:nvPr/>
        </p:nvSpPr>
        <p:spPr>
          <a:xfrm>
            <a:off x="704089" y="914400"/>
            <a:ext cx="3453844" cy="146304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cap="all" spc="30">
                <a:latin typeface="+mj-lt"/>
                <a:ea typeface="+mj-ea"/>
                <a:cs typeface="+mj-cs"/>
              </a:rPr>
              <a:t>Train the Model Without Duration Feature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7C10D4C-8DED-200E-3237-3345F3F2A1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340241D9-B482-C785-CE5C-CB6B8A217969}"/>
              </a:ext>
            </a:extLst>
          </p:cNvPr>
          <p:cNvSpPr txBox="1"/>
          <p:nvPr/>
        </p:nvSpPr>
        <p:spPr>
          <a:xfrm>
            <a:off x="4862022" y="1014984"/>
            <a:ext cx="6614593" cy="1362456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/>
              <a:t> Model without Duration → R² Score: -0.1539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b="1"/>
              <a:t>                                     RMSE: 205.11 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b="1"/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b="1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8F7F80F-9EDD-0EEA-B6D7-E116EBA4FA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2497143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F3CE7675-BC4F-81E1-7BD2-278DF0C342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369" b="2633"/>
          <a:stretch>
            <a:fillRect/>
          </a:stretch>
        </p:blipFill>
        <p:spPr>
          <a:xfrm>
            <a:off x="20" y="2377137"/>
            <a:ext cx="12191980" cy="3994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9255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AAB47E-0589-BD6D-798F-20DC3AF04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8" y="909637"/>
            <a:ext cx="6400800" cy="130759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>
                <a:latin typeface="Calisto MT"/>
              </a:rPr>
              <a:t>Fairness and Economic Implications</a:t>
            </a:r>
            <a:endParaRPr lang="en-US" sz="340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E813B4C-6731-0B72-5252-A79AB0E20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FC7AAD-6594-7891-811E-1EAED031FA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088" y="1748815"/>
            <a:ext cx="6400800" cy="424994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ct val="0"/>
              </a:spcBef>
              <a:buNone/>
            </a:pPr>
            <a:endParaRPr lang="en-US" sz="1600" cap="all">
              <a:latin typeface="Univers Condensed"/>
            </a:endParaRPr>
          </a:p>
          <a:p>
            <a:pPr>
              <a:lnSpc>
                <a:spcPct val="100000"/>
              </a:lnSpc>
            </a:pPr>
            <a:r>
              <a:rPr lang="en-US" sz="1600"/>
              <a:t>Loyal or premium users might pay more, even though they should be rewarded, they sometimes get higher prices which is unfair.</a:t>
            </a:r>
          </a:p>
          <a:p>
            <a:pPr>
              <a:lnSpc>
                <a:spcPct val="100000"/>
              </a:lnSpc>
            </a:pPr>
            <a:r>
              <a:rPr lang="en-US" sz="1600"/>
              <a:t>Cases with fewer drivers and prices are still high. Thia is a problem for people in places with low driver availability like rural areas.</a:t>
            </a:r>
          </a:p>
          <a:p>
            <a:pPr>
              <a:lnSpc>
                <a:spcPct val="100000"/>
              </a:lnSpc>
            </a:pPr>
            <a:r>
              <a:rPr lang="en-US" sz="1600"/>
              <a:t>Users don’t know how prices are set, which makes it hard to trust the system.</a:t>
            </a:r>
          </a:p>
          <a:p>
            <a:pPr>
              <a:lnSpc>
                <a:spcPct val="100000"/>
              </a:lnSpc>
            </a:pPr>
            <a:r>
              <a:rPr lang="en-US" sz="1600"/>
              <a:t>Rising prices affect people differently because rich people can still pay, but lower-income users might have to find alternative ways to travel.</a:t>
            </a:r>
          </a:p>
          <a:p>
            <a:pPr>
              <a:lnSpc>
                <a:spcPct val="100000"/>
              </a:lnSpc>
            </a:pPr>
            <a:r>
              <a:rPr lang="en-US" sz="1600"/>
              <a:t>The model may focus only on profits, not on fairness or helping people who really need rides.</a:t>
            </a:r>
          </a:p>
          <a:p>
            <a:pPr>
              <a:lnSpc>
                <a:spcPct val="100000"/>
              </a:lnSpc>
            </a:pPr>
            <a:r>
              <a:rPr lang="en-US" sz="1600"/>
              <a:t>Is it fair across locations? People in cities may get better service and pricing than those in suburbs or rural places.</a:t>
            </a:r>
          </a:p>
          <a:p>
            <a:pPr>
              <a:lnSpc>
                <a:spcPct val="100000"/>
              </a:lnSpc>
            </a:pPr>
            <a:endParaRPr lang="en-US" sz="1100"/>
          </a:p>
        </p:txBody>
      </p:sp>
      <p:pic>
        <p:nvPicPr>
          <p:cNvPr id="10" name="Graphic 9" descr="Connections">
            <a:extLst>
              <a:ext uri="{FF2B5EF4-FFF2-40B4-BE49-F238E27FC236}">
                <a16:creationId xmlns:a16="http://schemas.microsoft.com/office/drawing/2014/main" id="{67E73D02-3971-AE09-2AF9-EE45636887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87920" y="2102261"/>
            <a:ext cx="3903980" cy="390398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E0E8146-6E65-2E6C-0C86-547E3C925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6196602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21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ChronicleVTI</vt:lpstr>
      <vt:lpstr>Dynamic Ride Pricing</vt:lpstr>
      <vt:lpstr>Data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Testing other models</vt:lpstr>
      <vt:lpstr>PowerPoint Presentation</vt:lpstr>
      <vt:lpstr>PowerPoint Presentation</vt:lpstr>
      <vt:lpstr>PowerPoint Presentation</vt:lpstr>
      <vt:lpstr>Fairness and Economic Implications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12</cp:revision>
  <dcterms:created xsi:type="dcterms:W3CDTF">2025-05-29T11:13:32Z</dcterms:created>
  <dcterms:modified xsi:type="dcterms:W3CDTF">2025-05-29T16:14:20Z</dcterms:modified>
</cp:coreProperties>
</file>